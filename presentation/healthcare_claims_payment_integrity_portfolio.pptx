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/>
    <p:restoredTop sz="86049"/>
  </p:normalViewPr>
  <p:slideViewPr>
    <p:cSldViewPr snapToGrid="0">
      <p:cViewPr varScale="1">
        <p:scale>
          <a:sx n="84" d="100"/>
          <a:sy n="84" d="100"/>
        </p:scale>
        <p:origin x="6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E5425-F1E2-9F4C-AA3D-C7507C759F06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B6B87-A0CB-DA45-8BAC-1CE21F7CBD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666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B6B87-A0CB-DA45-8BAC-1CE21F7CBD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10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B6B87-A0CB-DA45-8BAC-1CE21F7CBDE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57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B6B87-A0CB-DA45-8BAC-1CE21F7CBDE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777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B6B87-A0CB-DA45-8BAC-1CE21F7CBDE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68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86A8-39C8-ED49-8050-A1E78B49F2B1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B298-73AE-B14B-8973-D53EA452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69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86A8-39C8-ED49-8050-A1E78B49F2B1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B298-73AE-B14B-8973-D53EA452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83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86A8-39C8-ED49-8050-A1E78B49F2B1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B298-73AE-B14B-8973-D53EA452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50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86A8-39C8-ED49-8050-A1E78B49F2B1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B298-73AE-B14B-8973-D53EA452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48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86A8-39C8-ED49-8050-A1E78B49F2B1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B298-73AE-B14B-8973-D53EA452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2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86A8-39C8-ED49-8050-A1E78B49F2B1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B298-73AE-B14B-8973-D53EA452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444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86A8-39C8-ED49-8050-A1E78B49F2B1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B298-73AE-B14B-8973-D53EA452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94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86A8-39C8-ED49-8050-A1E78B49F2B1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B298-73AE-B14B-8973-D53EA452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060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86A8-39C8-ED49-8050-A1E78B49F2B1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B298-73AE-B14B-8973-D53EA452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700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86A8-39C8-ED49-8050-A1E78B49F2B1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B298-73AE-B14B-8973-D53EA452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0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986A8-39C8-ED49-8050-A1E78B49F2B1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FB298-73AE-B14B-8973-D53EA452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74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986A8-39C8-ED49-8050-A1E78B49F2B1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8FB298-73AE-B14B-8973-D53EA45281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644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CD6FB-75F1-4EC5-CDEF-53E8B63715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Healthcare Claims Payment Integrity</a:t>
            </a:r>
            <a:br>
              <a:rPr lang="en-US" sz="4800" dirty="0"/>
            </a:br>
            <a:r>
              <a:rPr lang="en-US" sz="4800" dirty="0"/>
              <a:t>&amp; Cost Intelligence Platform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4991F8-5EDA-F280-937E-AF38D163BB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End-to-end analytics engineering with Python, SQL, SAS,</a:t>
            </a:r>
          </a:p>
          <a:p>
            <a:r>
              <a:rPr lang="en-US" dirty="0"/>
              <a:t>Microsoft Fabric, Looker Studio, and Power BI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245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85D5B-E092-DEAD-73EF-7AD50D4D9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83566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Three questions drive the platform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C387C-1474-63D6-D361-90C767BF9A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Why did healthcare claims costs change?</a:t>
            </a:r>
          </a:p>
          <a:p>
            <a:endParaRPr lang="en-US" sz="2400" dirty="0"/>
          </a:p>
          <a:p>
            <a:r>
              <a:rPr lang="en-US" sz="2400" dirty="0"/>
              <a:t>Which payments merit explainable human review?</a:t>
            </a:r>
          </a:p>
          <a:p>
            <a:endParaRPr lang="en-US" sz="2400" dirty="0"/>
          </a:p>
          <a:p>
            <a:r>
              <a:rPr lang="en-US" sz="2400" dirty="0"/>
              <a:t>Did the simulated claims-review policy change outcomes?</a:t>
            </a:r>
          </a:p>
          <a:p>
            <a:endParaRPr lang="en-US" sz="2400" dirty="0"/>
          </a:p>
          <a:p>
            <a:r>
              <a:rPr lang="en-US" sz="2400" dirty="0"/>
              <a:t>How can every result remain reproducible, governed, and privacy-safe?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7E3F63-7FBC-538B-D56E-38C2E33AECAB}"/>
              </a:ext>
            </a:extLst>
          </p:cNvPr>
          <p:cNvSpPr txBox="1"/>
          <p:nvPr/>
        </p:nvSpPr>
        <p:spPr>
          <a:xfrm>
            <a:off x="838200" y="6353896"/>
            <a:ext cx="8236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Synthetic and public-use data only • Review leads are not fraud determinations</a:t>
            </a:r>
          </a:p>
          <a:p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2509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319DE-2393-2FFE-08BA-4A0BB2575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8624"/>
            <a:ext cx="10515600" cy="814389"/>
          </a:xfrm>
        </p:spPr>
        <p:txBody>
          <a:bodyPr>
            <a:noAutofit/>
          </a:bodyPr>
          <a:lstStyle/>
          <a:p>
            <a:r>
              <a:rPr lang="en-US" dirty="0"/>
              <a:t>A governed path from claims data to decisions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C29CC-C26D-1C54-4536-D661D86AF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43014"/>
            <a:ext cx="10668000" cy="49339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E4C47C-7740-C53B-97B4-C38EFA119A4E}"/>
              </a:ext>
            </a:extLst>
          </p:cNvPr>
          <p:cNvSpPr/>
          <p:nvPr/>
        </p:nvSpPr>
        <p:spPr>
          <a:xfrm>
            <a:off x="838200" y="2085972"/>
            <a:ext cx="2543175" cy="220027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2"/>
                </a:solidFill>
              </a:rPr>
              <a:t>Data foundation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Public-use ingestion</a:t>
            </a:r>
          </a:p>
          <a:p>
            <a:r>
              <a:rPr lang="en-US" dirty="0">
                <a:solidFill>
                  <a:schemeClr val="tx2"/>
                </a:solidFill>
              </a:rPr>
              <a:t>Synthetic operations</a:t>
            </a:r>
          </a:p>
          <a:p>
            <a:r>
              <a:rPr lang="en-US" dirty="0">
                <a:solidFill>
                  <a:schemeClr val="tx2"/>
                </a:solidFill>
              </a:rPr>
              <a:t>Controlled anomalies</a:t>
            </a:r>
          </a:p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CBE258B-A704-B028-022E-7DFF623C0B74}"/>
              </a:ext>
            </a:extLst>
          </p:cNvPr>
          <p:cNvSpPr/>
          <p:nvPr/>
        </p:nvSpPr>
        <p:spPr>
          <a:xfrm>
            <a:off x="3473449" y="2085972"/>
            <a:ext cx="2738439" cy="220027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2"/>
                </a:solidFill>
              </a:rPr>
              <a:t>Governed analytics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Trusted claims model</a:t>
            </a:r>
          </a:p>
          <a:p>
            <a:r>
              <a:rPr lang="en-US" dirty="0">
                <a:solidFill>
                  <a:schemeClr val="tx2"/>
                </a:solidFill>
              </a:rPr>
              <a:t>Payment-integrity rules</a:t>
            </a:r>
          </a:p>
          <a:p>
            <a:r>
              <a:rPr lang="en-US" dirty="0">
                <a:solidFill>
                  <a:schemeClr val="tx2"/>
                </a:solidFill>
              </a:rPr>
              <a:t>Cost and policy analysis</a:t>
            </a:r>
          </a:p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C5AD828-7706-07F8-1425-576896506986}"/>
              </a:ext>
            </a:extLst>
          </p:cNvPr>
          <p:cNvSpPr/>
          <p:nvPr/>
        </p:nvSpPr>
        <p:spPr>
          <a:xfrm>
            <a:off x="6303962" y="2085972"/>
            <a:ext cx="2540794" cy="220027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2"/>
                </a:solidFill>
              </a:rPr>
              <a:t>Independent validation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Python and SQL tests</a:t>
            </a:r>
          </a:p>
          <a:p>
            <a:r>
              <a:rPr lang="en-US" dirty="0">
                <a:solidFill>
                  <a:schemeClr val="tx2"/>
                </a:solidFill>
              </a:rPr>
              <a:t>SAS reconciliation</a:t>
            </a:r>
          </a:p>
          <a:p>
            <a:r>
              <a:rPr lang="en-US" dirty="0">
                <a:solidFill>
                  <a:schemeClr val="tx2"/>
                </a:solidFill>
              </a:rPr>
              <a:t>Microsoft Fabric execution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B22DDE9-3FE1-61C7-7F45-92FCED9AA555}"/>
              </a:ext>
            </a:extLst>
          </p:cNvPr>
          <p:cNvSpPr/>
          <p:nvPr/>
        </p:nvSpPr>
        <p:spPr>
          <a:xfrm>
            <a:off x="8936830" y="2085972"/>
            <a:ext cx="2309814" cy="2200275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2"/>
                </a:solidFill>
              </a:rPr>
              <a:t>Decision delivery</a:t>
            </a:r>
          </a:p>
          <a:p>
            <a:endParaRPr lang="en-US" dirty="0"/>
          </a:p>
          <a:p>
            <a:r>
              <a:rPr lang="en-US" dirty="0">
                <a:solidFill>
                  <a:schemeClr val="tx2"/>
                </a:solidFill>
              </a:rPr>
              <a:t>Looker Studio</a:t>
            </a:r>
          </a:p>
          <a:p>
            <a:r>
              <a:rPr lang="en-US" dirty="0">
                <a:solidFill>
                  <a:schemeClr val="tx2"/>
                </a:solidFill>
              </a:rPr>
              <a:t>Power BI validation</a:t>
            </a:r>
          </a:p>
          <a:p>
            <a:r>
              <a:rPr lang="en-US" dirty="0">
                <a:solidFill>
                  <a:schemeClr val="tx2"/>
                </a:solidFill>
              </a:rPr>
              <a:t>Explainable review queue</a:t>
            </a:r>
          </a:p>
          <a:p>
            <a:pPr algn="ctr"/>
            <a:endParaRPr lang="en-US" dirty="0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94EAAD72-DAD7-4798-B761-D13B18F28778}"/>
              </a:ext>
            </a:extLst>
          </p:cNvPr>
          <p:cNvSpPr/>
          <p:nvPr/>
        </p:nvSpPr>
        <p:spPr>
          <a:xfrm>
            <a:off x="3366293" y="3011805"/>
            <a:ext cx="276225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F71FFD10-05A9-F6AA-CCB9-47422FF76FC4}"/>
              </a:ext>
            </a:extLst>
          </p:cNvPr>
          <p:cNvSpPr/>
          <p:nvPr/>
        </p:nvSpPr>
        <p:spPr>
          <a:xfrm>
            <a:off x="6182518" y="3034665"/>
            <a:ext cx="276225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E9E60B3D-8178-DBE1-8F07-EF3A07C5A4F1}"/>
              </a:ext>
            </a:extLst>
          </p:cNvPr>
          <p:cNvSpPr/>
          <p:nvPr/>
        </p:nvSpPr>
        <p:spPr>
          <a:xfrm>
            <a:off x="8829674" y="3048950"/>
            <a:ext cx="276225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2F6404-E96A-2DDE-16DD-204ABB876FD3}"/>
              </a:ext>
            </a:extLst>
          </p:cNvPr>
          <p:cNvSpPr txBox="1"/>
          <p:nvPr/>
        </p:nvSpPr>
        <p:spPr>
          <a:xfrm>
            <a:off x="838199" y="5181063"/>
            <a:ext cx="9434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Versioned contracts • Deterministic builds • Privacy controls • Ground-truth isolation</a:t>
            </a:r>
          </a:p>
        </p:txBody>
      </p:sp>
    </p:spTree>
    <p:extLst>
      <p:ext uri="{BB962C8B-B14F-4D97-AF65-F5344CB8AC3E}">
        <p14:creationId xmlns:p14="http://schemas.microsoft.com/office/powerpoint/2010/main" val="3714654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C40F0-1D6A-DCF4-30C3-73C342668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Explainable review prioritization with strong test performance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C0CCE-ADE8-3890-6719-AAFDBC6BB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14450"/>
            <a:ext cx="3190875" cy="4443413"/>
          </a:xfrm>
        </p:spPr>
        <p:txBody>
          <a:bodyPr>
            <a:normAutofit/>
          </a:bodyPr>
          <a:lstStyle/>
          <a:p>
            <a:r>
              <a:rPr lang="en-US" sz="2000" dirty="0"/>
              <a:t>10 explainable rules</a:t>
            </a:r>
          </a:p>
          <a:p>
            <a:r>
              <a:rPr lang="en-US" sz="2000" dirty="0"/>
              <a:t>500 controlled labels</a:t>
            </a:r>
          </a:p>
          <a:p>
            <a:r>
              <a:rPr lang="en-US" sz="2000" dirty="0"/>
              <a:t>88% precision</a:t>
            </a:r>
          </a:p>
          <a:p>
            <a:r>
              <a:rPr lang="en-US" sz="2000" dirty="0"/>
              <a:t>88% recall</a:t>
            </a:r>
          </a:p>
          <a:p>
            <a:r>
              <a:rPr lang="en-US" sz="2000" dirty="0"/>
              <a:t>0.01% false-positive rate</a:t>
            </a:r>
          </a:p>
          <a:p>
            <a:r>
              <a:rPr lang="en-US" sz="2000" dirty="0"/>
              <a:t>99.46% exposure recall</a:t>
            </a:r>
          </a:p>
          <a:p>
            <a:r>
              <a:rPr lang="en-US" sz="2000" dirty="0"/>
              <a:t>$14.83M detected expected exposure</a:t>
            </a:r>
          </a:p>
          <a:p>
            <a:endParaRPr lang="en-US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CADD28D5-5975-8B02-B43F-3BCA836F3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399" y="1027906"/>
            <a:ext cx="7333577" cy="52294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BC31D8-E05B-931C-CF7F-9A8CFF117479}"/>
              </a:ext>
            </a:extLst>
          </p:cNvPr>
          <p:cNvSpPr txBox="1"/>
          <p:nvPr/>
        </p:nvSpPr>
        <p:spPr>
          <a:xfrm>
            <a:off x="4356399" y="6338986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Controlled synthetic evaluation • Findings require human review</a:t>
            </a:r>
          </a:p>
        </p:txBody>
      </p:sp>
    </p:spTree>
    <p:extLst>
      <p:ext uri="{BB962C8B-B14F-4D97-AF65-F5344CB8AC3E}">
        <p14:creationId xmlns:p14="http://schemas.microsoft.com/office/powerpoint/2010/main" val="930798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67176-F25B-C862-E6AB-581CCDFAD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Separate care utilization from payment cash flow</a:t>
            </a:r>
            <a:br>
              <a:rPr lang="en-US" sz="3200" dirty="0"/>
            </a:br>
            <a:endParaRPr lang="en-US" sz="3200" dirty="0"/>
          </a:p>
        </p:txBody>
      </p:sp>
      <p:pic>
        <p:nvPicPr>
          <p:cNvPr id="5" name="Content Placeholder 4" descr="A graph of a number of services&#10;&#10;AI-generated content may be incorrect.">
            <a:extLst>
              <a:ext uri="{FF2B5EF4-FFF2-40B4-BE49-F238E27FC236}">
                <a16:creationId xmlns:a16="http://schemas.microsoft.com/office/drawing/2014/main" id="{921B94EC-4BEB-7050-B2B3-C2B8EBCC0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976" y="1252538"/>
            <a:ext cx="9572624" cy="3648075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221553-AD68-7E83-FADC-425710039675}"/>
              </a:ext>
            </a:extLst>
          </p:cNvPr>
          <p:cNvSpPr txBox="1"/>
          <p:nvPr/>
        </p:nvSpPr>
        <p:spPr>
          <a:xfrm>
            <a:off x="592930" y="5141695"/>
            <a:ext cx="11006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PMPM and per-1,000 rates • Concentration • Price-utilization-mix decomposition • Early-warning signals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60317A-DF2D-2576-7332-CA08932DBD89}"/>
              </a:ext>
            </a:extLst>
          </p:cNvPr>
          <p:cNvSpPr txBox="1"/>
          <p:nvPr/>
        </p:nvSpPr>
        <p:spPr>
          <a:xfrm>
            <a:off x="592930" y="5618749"/>
            <a:ext cx="97655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</a:rPr>
              <a:t>20 quality checks passed • Cost decomposition reconciles within $0.01</a:t>
            </a:r>
          </a:p>
        </p:txBody>
      </p:sp>
    </p:spTree>
    <p:extLst>
      <p:ext uri="{BB962C8B-B14F-4D97-AF65-F5344CB8AC3E}">
        <p14:creationId xmlns:p14="http://schemas.microsoft.com/office/powerpoint/2010/main" val="769525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E8217-9FFE-C976-7E19-03CFD861B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863263" cy="1106488"/>
          </a:xfrm>
        </p:spPr>
        <p:txBody>
          <a:bodyPr>
            <a:normAutofit/>
          </a:bodyPr>
          <a:lstStyle/>
          <a:p>
            <a:r>
              <a:rPr lang="en-US" sz="3200" dirty="0"/>
              <a:t>A statistically disciplined result can be “no demonstrated effect”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BC50A-8A79-A282-D7F7-4F2B8904F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614"/>
            <a:ext cx="4219575" cy="4705349"/>
          </a:xfrm>
        </p:spPr>
        <p:txBody>
          <a:bodyPr>
            <a:normAutofit/>
          </a:bodyPr>
          <a:lstStyle/>
          <a:p>
            <a:r>
              <a:rPr lang="en-US" sz="2000" dirty="0"/>
              <a:t>3,600 provider-month observations</a:t>
            </a:r>
          </a:p>
          <a:p>
            <a:r>
              <a:rPr lang="en-US" sz="2000" dirty="0"/>
              <a:t>200 providers</a:t>
            </a:r>
          </a:p>
          <a:p>
            <a:r>
              <a:rPr lang="en-US" sz="2000" dirty="0"/>
              <a:t>5 evaluated outcomes</a:t>
            </a:r>
          </a:p>
          <a:p>
            <a:r>
              <a:rPr lang="en-US" sz="2000" dirty="0"/>
              <a:t>No statistically significant primary estimate</a:t>
            </a:r>
          </a:p>
          <a:p>
            <a:r>
              <a:rPr lang="en-US" sz="2000" dirty="0"/>
              <a:t>All pre-trend tests passed</a:t>
            </a:r>
          </a:p>
          <a:p>
            <a:r>
              <a:rPr lang="en-US" sz="2000" dirty="0"/>
              <a:t>All placebo tests passed</a:t>
            </a:r>
          </a:p>
          <a:p>
            <a:r>
              <a:rPr lang="en-US" sz="2000" dirty="0"/>
              <a:t>Exposure weighting affected some estimates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57FA71-1D7E-EF0E-3C8A-F1BD05D1A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7775" y="1265672"/>
            <a:ext cx="6984907" cy="43266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E46581-8AF5-8E68-E007-653F800E972F}"/>
              </a:ext>
            </a:extLst>
          </p:cNvPr>
          <p:cNvSpPr txBox="1"/>
          <p:nvPr/>
        </p:nvSpPr>
        <p:spPr>
          <a:xfrm>
            <a:off x="5624512" y="6308207"/>
            <a:ext cx="6567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Synthetic analytical evidence, not a production causal claim</a:t>
            </a:r>
          </a:p>
        </p:txBody>
      </p:sp>
    </p:spTree>
    <p:extLst>
      <p:ext uri="{BB962C8B-B14F-4D97-AF65-F5344CB8AC3E}">
        <p14:creationId xmlns:p14="http://schemas.microsoft.com/office/powerpoint/2010/main" val="1058303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8575-6BD9-A7BA-39E4-6FBA52293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1208"/>
            <a:ext cx="10515600" cy="1206500"/>
          </a:xfrm>
        </p:spPr>
        <p:txBody>
          <a:bodyPr>
            <a:normAutofit/>
          </a:bodyPr>
          <a:lstStyle/>
          <a:p>
            <a:r>
              <a:rPr lang="en-US" sz="3200" dirty="0"/>
              <a:t>Independent validation from local analytics to cloud execution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BE6C7D0-0B5E-B2CC-1602-8A8C53736806}"/>
              </a:ext>
            </a:extLst>
          </p:cNvPr>
          <p:cNvSpPr/>
          <p:nvPr/>
        </p:nvSpPr>
        <p:spPr>
          <a:xfrm>
            <a:off x="1176340" y="1285878"/>
            <a:ext cx="4124323" cy="364331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SAS reconciliation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sz="2000" dirty="0">
                <a:solidFill>
                  <a:schemeClr val="tx2"/>
                </a:solidFill>
              </a:rPr>
              <a:t>181 comparisons passed</a:t>
            </a:r>
          </a:p>
          <a:p>
            <a:r>
              <a:rPr lang="en-US" sz="2000" dirty="0">
                <a:solidFill>
                  <a:schemeClr val="tx2"/>
                </a:solidFill>
              </a:rPr>
              <a:t>0 failures</a:t>
            </a:r>
          </a:p>
          <a:p>
            <a:r>
              <a:rPr lang="en-US" sz="2000" dirty="0">
                <a:solidFill>
                  <a:schemeClr val="tx2"/>
                </a:solidFill>
              </a:rPr>
              <a:t>0 missing SAS values</a:t>
            </a:r>
          </a:p>
          <a:p>
            <a:endParaRPr lang="en-US" sz="2000" dirty="0">
              <a:solidFill>
                <a:schemeClr val="tx2"/>
              </a:solidFill>
            </a:endParaRPr>
          </a:p>
          <a:p>
            <a:r>
              <a:rPr lang="en-US" sz="2000" dirty="0">
                <a:solidFill>
                  <a:schemeClr val="tx2"/>
                </a:solidFill>
              </a:rPr>
              <a:t>Independent reproduction of governed analytical references</a:t>
            </a:r>
          </a:p>
          <a:p>
            <a:pPr algn="ctr"/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3A746C1-10DF-58D1-876F-4E8DE2C8D7EB}"/>
              </a:ext>
            </a:extLst>
          </p:cNvPr>
          <p:cNvSpPr/>
          <p:nvPr/>
        </p:nvSpPr>
        <p:spPr>
          <a:xfrm>
            <a:off x="6448424" y="1285877"/>
            <a:ext cx="4224339" cy="364331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Microsoft Fabric</a:t>
            </a:r>
          </a:p>
          <a:p>
            <a:endParaRPr lang="en-US" sz="2000" dirty="0">
              <a:solidFill>
                <a:schemeClr val="tx2"/>
              </a:solidFill>
            </a:endParaRPr>
          </a:p>
          <a:p>
            <a:r>
              <a:rPr lang="en-US" sz="2000" dirty="0">
                <a:solidFill>
                  <a:schemeClr val="tx2"/>
                </a:solidFill>
              </a:rPr>
              <a:t>26 governed tables</a:t>
            </a:r>
          </a:p>
          <a:p>
            <a:r>
              <a:rPr lang="en-US" sz="2000" dirty="0">
                <a:solidFill>
                  <a:schemeClr val="tx2"/>
                </a:solidFill>
              </a:rPr>
              <a:t>23 ordinary • 3 restricted</a:t>
            </a:r>
          </a:p>
          <a:p>
            <a:r>
              <a:rPr lang="en-US" sz="2000" dirty="0">
                <a:solidFill>
                  <a:schemeClr val="tx2"/>
                </a:solidFill>
              </a:rPr>
              <a:t>33 reconciliation checks passed</a:t>
            </a:r>
          </a:p>
          <a:p>
            <a:r>
              <a:rPr lang="en-US" sz="2000" dirty="0">
                <a:solidFill>
                  <a:schemeClr val="tx2"/>
                </a:solidFill>
              </a:rPr>
              <a:t>Notebook and pipeline succeeded</a:t>
            </a:r>
          </a:p>
          <a:p>
            <a:r>
              <a:rPr lang="en-US" sz="2000" dirty="0">
                <a:solidFill>
                  <a:schemeClr val="tx2"/>
                </a:solidFill>
              </a:rPr>
              <a:t>$0 paid cloud-resource cost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313093-84D8-FA68-AC36-34B74D3CB4F5}"/>
              </a:ext>
            </a:extLst>
          </p:cNvPr>
          <p:cNvSpPr txBox="1"/>
          <p:nvPr/>
        </p:nvSpPr>
        <p:spPr>
          <a:xfrm>
            <a:off x="307181" y="6211669"/>
            <a:ext cx="7965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Evaluation ground truth remained isolated from ordinary analytical features</a:t>
            </a:r>
          </a:p>
        </p:txBody>
      </p:sp>
    </p:spTree>
    <p:extLst>
      <p:ext uri="{BB962C8B-B14F-4D97-AF65-F5344CB8AC3E}">
        <p14:creationId xmlns:p14="http://schemas.microsoft.com/office/powerpoint/2010/main" val="147286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D0C5-12F4-4D6D-3939-3883B3C58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874"/>
            <a:ext cx="10515600" cy="1006475"/>
          </a:xfrm>
        </p:spPr>
        <p:txBody>
          <a:bodyPr>
            <a:normAutofit/>
          </a:bodyPr>
          <a:lstStyle/>
          <a:p>
            <a:r>
              <a:rPr lang="en-US" sz="3200" dirty="0"/>
              <a:t>One governed metric layer, validated across two BI tools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53EF33-9612-5F6A-C2B0-0BB03B9C8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117" y="1296517"/>
            <a:ext cx="5535069" cy="3843338"/>
          </a:xfrm>
        </p:spPr>
      </p:pic>
      <p:pic>
        <p:nvPicPr>
          <p:cNvPr id="7" name="Picture 6" descr="A screenshot of a white grid&#10;&#10;AI-generated content may be incorrect.">
            <a:extLst>
              <a:ext uri="{FF2B5EF4-FFF2-40B4-BE49-F238E27FC236}">
                <a16:creationId xmlns:a16="http://schemas.microsoft.com/office/drawing/2014/main" id="{55126256-DFD9-CDE4-A895-AEEAF282F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269" y="1221433"/>
            <a:ext cx="5403614" cy="3843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AB05AD-4BF5-C209-6008-BA2B4BFFE832}"/>
              </a:ext>
            </a:extLst>
          </p:cNvPr>
          <p:cNvSpPr txBox="1"/>
          <p:nvPr/>
        </p:nvSpPr>
        <p:spPr>
          <a:xfrm>
            <a:off x="277269" y="51398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/>
              <a:t>Looker Studio • Six-page primary dashboard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1E9A66-B64C-937B-A2D7-1A3EF2F6CE4F}"/>
              </a:ext>
            </a:extLst>
          </p:cNvPr>
          <p:cNvSpPr txBox="1"/>
          <p:nvPr/>
        </p:nvSpPr>
        <p:spPr>
          <a:xfrm>
            <a:off x="6319839" y="5139855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Power BI • Independent four-KPI validation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09C1BB-CA77-840B-FD18-D62B42599165}"/>
              </a:ext>
            </a:extLst>
          </p:cNvPr>
          <p:cNvSpPr txBox="1"/>
          <p:nvPr/>
        </p:nvSpPr>
        <p:spPr>
          <a:xfrm>
            <a:off x="85557" y="6308209"/>
            <a:ext cx="11729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7 extracts • 14 governed KPIs • Exact count matches • Financial differences ≤ $0.01 • 11-member privacy threshold</a:t>
            </a:r>
          </a:p>
        </p:txBody>
      </p:sp>
    </p:spTree>
    <p:extLst>
      <p:ext uri="{BB962C8B-B14F-4D97-AF65-F5344CB8AC3E}">
        <p14:creationId xmlns:p14="http://schemas.microsoft.com/office/powerpoint/2010/main" val="3756072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AF6EE-B392-EFEE-B4DB-452A53C0E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0775"/>
          </a:xfrm>
        </p:spPr>
        <p:txBody>
          <a:bodyPr>
            <a:normAutofit/>
          </a:bodyPr>
          <a:lstStyle/>
          <a:p>
            <a:r>
              <a:rPr lang="en-US" sz="3200" dirty="0"/>
              <a:t>What this project demonstrates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4A674-9A8C-E51F-C4C2-E000A28D5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1"/>
            <a:ext cx="9342120" cy="3390900"/>
          </a:xfrm>
        </p:spPr>
        <p:txBody>
          <a:bodyPr>
            <a:noAutofit/>
          </a:bodyPr>
          <a:lstStyle/>
          <a:p>
            <a:r>
              <a:rPr lang="en-US" sz="2400" dirty="0"/>
              <a:t>Analytics engineering and dimensional claims modeling</a:t>
            </a:r>
          </a:p>
          <a:p>
            <a:r>
              <a:rPr lang="en-US" sz="2400" dirty="0"/>
              <a:t>Explainable payment-integrity review rules</a:t>
            </a:r>
          </a:p>
          <a:p>
            <a:r>
              <a:rPr lang="en-US" sz="2400" dirty="0"/>
              <a:t>Cost intelligence and statistical policy evaluation</a:t>
            </a:r>
          </a:p>
          <a:p>
            <a:r>
              <a:rPr lang="en-US" sz="2400" dirty="0"/>
              <a:t>Python, SQL, SAS, and Microsoft Fabric validation</a:t>
            </a:r>
          </a:p>
          <a:p>
            <a:r>
              <a:rPr lang="en-US" sz="2400" dirty="0"/>
              <a:t>Looker Studio and Power BI delivery</a:t>
            </a:r>
          </a:p>
          <a:p>
            <a:r>
              <a:rPr lang="en-US" sz="2400" dirty="0"/>
              <a:t>Automated testing, privacy governance, and reproducible evidence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521BB-846A-A3B8-3821-24E5B077C916}"/>
              </a:ext>
            </a:extLst>
          </p:cNvPr>
          <p:cNvSpPr txBox="1"/>
          <p:nvPr/>
        </p:nvSpPr>
        <p:spPr>
          <a:xfrm>
            <a:off x="670560" y="4910434"/>
            <a:ext cx="11186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A reproducible platform that explains cost changes, prioritizes review leads, evaluates policy effects honestly, and delivers governed results across multiple tools.</a:t>
            </a:r>
          </a:p>
        </p:txBody>
      </p:sp>
    </p:spTree>
    <p:extLst>
      <p:ext uri="{BB962C8B-B14F-4D97-AF65-F5344CB8AC3E}">
        <p14:creationId xmlns:p14="http://schemas.microsoft.com/office/powerpoint/2010/main" val="2607536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432</Words>
  <Application>Microsoft Macintosh PowerPoint</Application>
  <PresentationFormat>Widescreen</PresentationFormat>
  <Paragraphs>87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Healthcare Claims Payment Integrity &amp; Cost Intelligence Platform </vt:lpstr>
      <vt:lpstr>Three questions drive the platform </vt:lpstr>
      <vt:lpstr>A governed path from claims data to decisions </vt:lpstr>
      <vt:lpstr>Explainable review prioritization with strong test performance </vt:lpstr>
      <vt:lpstr>Separate care utilization from payment cash flow </vt:lpstr>
      <vt:lpstr>A statistically disciplined result can be “no demonstrated effect”</vt:lpstr>
      <vt:lpstr>Independent validation from local analytics to cloud execution</vt:lpstr>
      <vt:lpstr>One governed metric layer, validated across two BI tools</vt:lpstr>
      <vt:lpstr>What this project demonstrates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Healthcare Claims Analytics Portfolio</dc:creator>
  <cp:keywords/>
  <dc:description/>
  <cp:lastModifiedBy>Healthcare Claims Analytics Portfolio</cp:lastModifiedBy>
  <cp:revision>13</cp:revision>
  <dcterms:created xsi:type="dcterms:W3CDTF">2026-08-29T21:26:45Z</dcterms:created>
  <dcterms:modified xsi:type="dcterms:W3CDTF">2026-08-29T22:29:25Z</dcterms:modified>
  <cp:category/>
</cp:coreProperties>
</file>